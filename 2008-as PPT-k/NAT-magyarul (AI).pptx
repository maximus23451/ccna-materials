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51"/>
  </p:notesMasterIdLst>
  <p:handoutMasterIdLst>
    <p:handoutMasterId r:id="rId52"/>
  </p:handoutMasterIdLst>
  <p:sldIdLst>
    <p:sldId id="500" r:id="rId3"/>
    <p:sldId id="541" r:id="rId4"/>
    <p:sldId id="782" r:id="rId5"/>
    <p:sldId id="826" r:id="rId6"/>
    <p:sldId id="785" r:id="rId7"/>
    <p:sldId id="787" r:id="rId8"/>
    <p:sldId id="786" r:id="rId9"/>
    <p:sldId id="788" r:id="rId10"/>
    <p:sldId id="789" r:id="rId11"/>
    <p:sldId id="791" r:id="rId12"/>
    <p:sldId id="792" r:id="rId13"/>
    <p:sldId id="793" r:id="rId14"/>
    <p:sldId id="794" r:id="rId15"/>
    <p:sldId id="795" r:id="rId16"/>
    <p:sldId id="796" r:id="rId17"/>
    <p:sldId id="797" r:id="rId18"/>
    <p:sldId id="798" r:id="rId19"/>
    <p:sldId id="799" r:id="rId20"/>
    <p:sldId id="827" r:id="rId21"/>
    <p:sldId id="800" r:id="rId22"/>
    <p:sldId id="801" r:id="rId23"/>
    <p:sldId id="802" r:id="rId24"/>
    <p:sldId id="803" r:id="rId25"/>
    <p:sldId id="804" r:id="rId26"/>
    <p:sldId id="805" r:id="rId27"/>
    <p:sldId id="806" r:id="rId28"/>
    <p:sldId id="807" r:id="rId29"/>
    <p:sldId id="808" r:id="rId30"/>
    <p:sldId id="809" r:id="rId31"/>
    <p:sldId id="810" r:id="rId32"/>
    <p:sldId id="811" r:id="rId33"/>
    <p:sldId id="812" r:id="rId34"/>
    <p:sldId id="813" r:id="rId35"/>
    <p:sldId id="814" r:id="rId36"/>
    <p:sldId id="815" r:id="rId37"/>
    <p:sldId id="816" r:id="rId38"/>
    <p:sldId id="817" r:id="rId39"/>
    <p:sldId id="818" r:id="rId40"/>
    <p:sldId id="819" r:id="rId41"/>
    <p:sldId id="820" r:id="rId42"/>
    <p:sldId id="822" r:id="rId43"/>
    <p:sldId id="821" r:id="rId44"/>
    <p:sldId id="828" r:id="rId45"/>
    <p:sldId id="823" r:id="rId46"/>
    <p:sldId id="824" r:id="rId47"/>
    <p:sldId id="783" r:id="rId48"/>
    <p:sldId id="825" r:id="rId49"/>
    <p:sldId id="681" r:id="rId50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ttoria deloulay" initials="vd" lastIdx="9" clrIdx="0"/>
  <p:cmAuthor id="1" name="carykell" initials="c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4"/>
    <a:srgbClr val="678DC5"/>
    <a:srgbClr val="3E67A4"/>
    <a:srgbClr val="3E8DC5"/>
    <a:srgbClr val="5F5F65"/>
    <a:srgbClr val="7E7E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2" autoAdjust="0"/>
    <p:restoredTop sz="78203" autoAdjust="0"/>
  </p:normalViewPr>
  <p:slideViewPr>
    <p:cSldViewPr snapToGrid="0">
      <p:cViewPr>
        <p:scale>
          <a:sx n="70" d="100"/>
          <a:sy n="70" d="100"/>
        </p:scale>
        <p:origin x="-2274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75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BCC1ECAD-6CE1-4897-9CEF-F2ECC9BEA19E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05898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FB004549-1125-4930-988B-40FFE37DB1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7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034988-36DD-4D34-B1CE-37AB851117A5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Routing &amp; Switching</a:t>
            </a:r>
            <a:endParaRPr lang="en-US" b="1" dirty="0" smtClean="0"/>
          </a:p>
          <a:p>
            <a:pPr>
              <a:buFontTx/>
              <a:buNone/>
            </a:pPr>
            <a:r>
              <a:rPr lang="en-US" sz="1300" b="1" dirty="0" smtClean="0"/>
              <a:t>Chapter 11: </a:t>
            </a:r>
            <a:r>
              <a:rPr lang="en-US" sz="1400" b="1" dirty="0" smtClean="0"/>
              <a:t>Network Address Translation for IPv4</a:t>
            </a:r>
            <a:endParaRPr lang="en-GB" b="1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0EE284-7961-42D5-9E4B-29540E276A78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11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11</a:t>
            </a:r>
            <a:r>
              <a:rPr lang="en-US" b="1" baseline="0" dirty="0" smtClean="0"/>
              <a:t> </a:t>
            </a:r>
            <a:r>
              <a:rPr lang="en-US" b="1" baseline="0" dirty="0" smtClean="0"/>
              <a:t>Objectives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</a:t>
            </a:r>
            <a:r>
              <a:rPr lang="en-US" b="1" baseline="0" dirty="0" smtClean="0"/>
              <a:t> </a:t>
            </a:r>
            <a:r>
              <a:rPr lang="en-US" b="1" baseline="0" dirty="0" smtClean="0"/>
              <a:t>NAT Operation</a:t>
            </a:r>
            <a:endParaRPr lang="en-GB" b="1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11.1.1.1 </a:t>
            </a:r>
            <a:r>
              <a:rPr lang="en-US" b="1" dirty="0" smtClean="0"/>
              <a:t>IPv4</a:t>
            </a:r>
            <a:r>
              <a:rPr lang="en-US" b="1" baseline="0" dirty="0" smtClean="0"/>
              <a:t> Private Address Space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11.1.1.1 </a:t>
            </a:r>
            <a:r>
              <a:rPr lang="en-US" b="1" dirty="0" smtClean="0"/>
              <a:t>IPv4</a:t>
            </a:r>
            <a:r>
              <a:rPr lang="en-US" b="1" baseline="0" dirty="0" smtClean="0"/>
              <a:t> Private Address Space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11.1.1.2</a:t>
            </a:r>
            <a:r>
              <a:rPr lang="en-US" b="1" baseline="0" dirty="0" smtClean="0"/>
              <a:t> </a:t>
            </a:r>
            <a:r>
              <a:rPr lang="en-US" b="1" dirty="0" smtClean="0">
                <a:ea typeface="ＭＳ Ｐゴシック" pitchFamily="34" charset="-128"/>
              </a:rPr>
              <a:t>What is NAT?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11.1.1.2</a:t>
            </a:r>
            <a:r>
              <a:rPr lang="en-US" b="1" baseline="0" dirty="0" smtClean="0"/>
              <a:t> </a:t>
            </a:r>
            <a:r>
              <a:rPr lang="en-US" b="1" dirty="0" smtClean="0">
                <a:ea typeface="ＭＳ Ｐゴシック" pitchFamily="34" charset="-128"/>
              </a:rPr>
              <a:t>What is</a:t>
            </a:r>
            <a:r>
              <a:rPr lang="en-US" b="1" baseline="0" dirty="0" smtClean="0">
                <a:ea typeface="ＭＳ Ｐゴシック" pitchFamily="34" charset="-128"/>
              </a:rPr>
              <a:t> NAT? (cont.)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11.1.1.3 </a:t>
            </a:r>
            <a:r>
              <a:rPr lang="en-US" b="1" dirty="0" smtClean="0">
                <a:ea typeface="ＭＳ Ｐゴシック" pitchFamily="34" charset="-128"/>
              </a:rPr>
              <a:t>NAT Terminology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11.1.1.4 </a:t>
            </a:r>
            <a:r>
              <a:rPr lang="en-US" b="1" dirty="0" smtClean="0">
                <a:ea typeface="ＭＳ Ｐゴシック" pitchFamily="34" charset="-128"/>
              </a:rPr>
              <a:t>NAT</a:t>
            </a:r>
            <a:r>
              <a:rPr lang="en-US" b="1" baseline="0" dirty="0" smtClean="0">
                <a:ea typeface="ＭＳ Ｐゴシック" pitchFamily="34" charset="-128"/>
              </a:rPr>
              <a:t> Terminology (cont.)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11.1.2.1 </a:t>
            </a:r>
            <a:r>
              <a:rPr lang="en-US" b="1" dirty="0" smtClean="0">
                <a:ea typeface="ＭＳ Ｐゴシック" pitchFamily="34" charset="-128"/>
              </a:rPr>
              <a:t>Static NAT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11.1.2.1 </a:t>
            </a:r>
            <a:r>
              <a:rPr lang="en-US" b="1" dirty="0" smtClean="0">
                <a:ea typeface="ＭＳ Ｐゴシック" pitchFamily="34" charset="-128"/>
              </a:rPr>
              <a:t>Static NAT (cont.)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11.1.2.2 </a:t>
            </a:r>
            <a:r>
              <a:rPr lang="en-US" b="1" dirty="0" smtClean="0">
                <a:ea typeface="ＭＳ Ｐゴシック" pitchFamily="34" charset="-128"/>
              </a:rPr>
              <a:t>Dynamic NAT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11.1.2.2 </a:t>
            </a:r>
            <a:r>
              <a:rPr lang="en-US" b="1" dirty="0" smtClean="0">
                <a:ea typeface="ＭＳ Ｐゴシック" pitchFamily="34" charset="-128"/>
              </a:rPr>
              <a:t>Dynamic NAT (cont.)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11.1.2.3 </a:t>
            </a:r>
            <a:r>
              <a:rPr lang="en-US" b="1" dirty="0" smtClean="0">
                <a:ea typeface="ＭＳ Ｐゴシック" pitchFamily="34" charset="-128"/>
              </a:rPr>
              <a:t>Port Address Translation NAT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11.1.2.5 </a:t>
            </a:r>
            <a:r>
              <a:rPr lang="en-US" b="1" dirty="0" smtClean="0">
                <a:ea typeface="ＭＳ Ｐゴシック" pitchFamily="34" charset="-128"/>
              </a:rPr>
              <a:t>Comparing NAT and PAT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11.1.3.1 </a:t>
            </a:r>
            <a:r>
              <a:rPr lang="en-US" sz="1200" b="1" dirty="0" smtClean="0">
                <a:ea typeface="ＭＳ Ｐゴシック" pitchFamily="34" charset="-128"/>
              </a:rPr>
              <a:t>Benefits of NAT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11.1.3.2 </a:t>
            </a:r>
            <a:r>
              <a:rPr lang="en-US" b="1" dirty="0" smtClean="0">
                <a:ea typeface="ＭＳ Ｐゴシック" pitchFamily="34" charset="-128"/>
              </a:rPr>
              <a:t>Disadvantages of NAT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19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 </a:t>
            </a:r>
            <a:r>
              <a:rPr lang="en-US" b="1" dirty="0" smtClean="0"/>
              <a:t>Configuring NAT</a:t>
            </a:r>
            <a:endParaRPr lang="en-GB" b="1" dirty="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11.2.1.1 </a:t>
            </a:r>
            <a:r>
              <a:rPr lang="en-US" b="1" dirty="0" smtClean="0">
                <a:ea typeface="ＭＳ Ｐゴシック" pitchFamily="34" charset="-128"/>
              </a:rPr>
              <a:t>Configuring Static NAT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11.2.1.1 </a:t>
            </a:r>
            <a:r>
              <a:rPr lang="en-US" b="1" dirty="0" smtClean="0">
                <a:ea typeface="ＭＳ Ｐゴシック" pitchFamily="34" charset="-128"/>
              </a:rPr>
              <a:t>Configuring Static NAT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11.2.1.2 </a:t>
            </a:r>
            <a:r>
              <a:rPr lang="en-US" b="1" dirty="0" smtClean="0">
                <a:ea typeface="ＭＳ Ｐゴシック" pitchFamily="34" charset="-128"/>
              </a:rPr>
              <a:t>Analyzing Static NAT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11.2.1.2 </a:t>
            </a:r>
            <a:r>
              <a:rPr lang="en-US" b="1" dirty="0" smtClean="0">
                <a:ea typeface="ＭＳ Ｐゴシック" pitchFamily="34" charset="-128"/>
              </a:rPr>
              <a:t>Verifying Static NAT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11.2.1.2 </a:t>
            </a:r>
            <a:r>
              <a:rPr lang="en-US" b="1" dirty="0" smtClean="0">
                <a:ea typeface="ＭＳ Ｐゴシック" pitchFamily="34" charset="-128"/>
              </a:rPr>
              <a:t>Verifying Static NAT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11.2.2.1 </a:t>
            </a:r>
            <a:r>
              <a:rPr lang="en-US" b="1" dirty="0" smtClean="0">
                <a:ea typeface="ＭＳ Ｐゴシック" pitchFamily="34" charset="-128"/>
              </a:rPr>
              <a:t>Dynamic NAT Operation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11.2.2.2 </a:t>
            </a:r>
            <a:r>
              <a:rPr lang="en-US" b="1" dirty="0" smtClean="0">
                <a:ea typeface="ＭＳ Ｐゴシック" pitchFamily="34" charset="-128"/>
              </a:rPr>
              <a:t>Configuring Dynamic NAT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11.2.2.3 </a:t>
            </a:r>
            <a:r>
              <a:rPr lang="en-US" b="1" dirty="0" smtClean="0">
                <a:ea typeface="ＭＳ Ｐゴシック" pitchFamily="34" charset="-128"/>
              </a:rPr>
              <a:t>Analyzing Dynamic NAT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11.2.2.3 </a:t>
            </a:r>
            <a:r>
              <a:rPr lang="en-US" b="1" dirty="0" smtClean="0">
                <a:ea typeface="ＭＳ Ｐゴシック" pitchFamily="34" charset="-128"/>
              </a:rPr>
              <a:t>Analyzing Dynamic NAT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11.2.2.4 </a:t>
            </a:r>
            <a:r>
              <a:rPr lang="en-US" b="1" dirty="0" smtClean="0">
                <a:ea typeface="ＭＳ Ｐゴシック" pitchFamily="34" charset="-128"/>
              </a:rPr>
              <a:t>Verifying Dynamic NAT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11.2.2.4 </a:t>
            </a:r>
            <a:r>
              <a:rPr lang="en-US" b="1" dirty="0" smtClean="0">
                <a:ea typeface="ＭＳ Ｐゴシック" pitchFamily="34" charset="-128"/>
              </a:rPr>
              <a:t>Verifying Dynamic NAT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11.2.3.1 </a:t>
            </a:r>
            <a:r>
              <a:rPr lang="en-US" b="1" dirty="0" smtClean="0">
                <a:ea typeface="ＭＳ Ｐゴシック" pitchFamily="34" charset="-128"/>
              </a:rPr>
              <a:t>Configuring PAT: Address Pool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11.2.3.2 </a:t>
            </a:r>
            <a:r>
              <a:rPr lang="en-US" b="1" dirty="0" smtClean="0">
                <a:ea typeface="ＭＳ Ｐゴシック" pitchFamily="34" charset="-128"/>
              </a:rPr>
              <a:t>Configuring PAT: Single Address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11.2.3.3 </a:t>
            </a:r>
            <a:r>
              <a:rPr lang="en-US" b="1" dirty="0" smtClean="0">
                <a:ea typeface="ＭＳ Ｐゴシック" pitchFamily="34" charset="-128"/>
              </a:rPr>
              <a:t>Analyzing PAT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11.2.3.3 </a:t>
            </a:r>
            <a:r>
              <a:rPr lang="en-US" b="1" dirty="0" smtClean="0">
                <a:ea typeface="ＭＳ Ｐゴシック" pitchFamily="34" charset="-128"/>
              </a:rPr>
              <a:t>Analyzing PAT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11.2.3.4 </a:t>
            </a:r>
            <a:r>
              <a:rPr lang="en-US" b="1" dirty="0" smtClean="0">
                <a:ea typeface="ＭＳ Ｐゴシック" pitchFamily="34" charset="-128"/>
              </a:rPr>
              <a:t>Verifying PAT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11.2.4.1 </a:t>
            </a:r>
            <a:r>
              <a:rPr lang="en-US" b="1" dirty="0" smtClean="0">
                <a:ea typeface="ＭＳ Ｐゴシック" pitchFamily="34" charset="-128"/>
              </a:rPr>
              <a:t>Port Forwarding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11.2.4.2</a:t>
            </a:r>
            <a:r>
              <a:rPr lang="en-US" b="1" baseline="0" dirty="0" smtClean="0"/>
              <a:t> </a:t>
            </a:r>
            <a:r>
              <a:rPr lang="en-US" b="1" dirty="0" smtClean="0">
                <a:ea typeface="ＭＳ Ｐゴシック" pitchFamily="34" charset="-128"/>
              </a:rPr>
              <a:t>SOHO Example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11.2.4.3 </a:t>
            </a:r>
            <a:r>
              <a:rPr lang="en-US" b="1" dirty="0" smtClean="0">
                <a:ea typeface="ＭＳ Ｐゴシック" pitchFamily="34" charset="-128"/>
              </a:rPr>
              <a:t>Configuring Port Forwarding with IOS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11.2.5.1 </a:t>
            </a:r>
            <a:r>
              <a:rPr lang="en-US" b="1" dirty="0" smtClean="0">
                <a:ea typeface="ＭＳ Ｐゴシック" pitchFamily="34" charset="-128"/>
              </a:rPr>
              <a:t>NAT for IPv6?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40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11.2.5.2 </a:t>
            </a:r>
            <a:r>
              <a:rPr lang="en-US" b="1" dirty="0" smtClean="0">
                <a:ea typeface="ＭＳ Ｐゴシック" pitchFamily="34" charset="-128"/>
              </a:rPr>
              <a:t>IPv6 Unique Local Addresses</a:t>
            </a:r>
            <a:endParaRPr lang="en-US" b="1" dirty="0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41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11.2.5.3 </a:t>
            </a:r>
            <a:r>
              <a:rPr lang="en-US" b="1" dirty="0" smtClean="0"/>
              <a:t>NAT for IPv6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42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11.2.5.3 </a:t>
            </a:r>
            <a:r>
              <a:rPr lang="en-US" b="1" dirty="0" smtClean="0"/>
              <a:t>NAT for IPv6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43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11.3 </a:t>
            </a:r>
            <a:r>
              <a:rPr lang="en-US" b="1" dirty="0" smtClean="0"/>
              <a:t>Troubleshooting</a:t>
            </a:r>
            <a:r>
              <a:rPr lang="en-US" b="1" baseline="0" dirty="0" smtClean="0"/>
              <a:t> NAT</a:t>
            </a:r>
            <a:endParaRPr lang="en-GB" b="1" dirty="0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44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11.3.1.1</a:t>
            </a:r>
            <a:r>
              <a:rPr lang="en-US" b="1" baseline="0" dirty="0" smtClean="0"/>
              <a:t> </a:t>
            </a:r>
            <a:r>
              <a:rPr lang="en-US" b="1" dirty="0" smtClean="0"/>
              <a:t>Troubleshooting NAT: show commands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45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b="1" dirty="0" smtClean="0"/>
              <a:t>11.3.1.2 </a:t>
            </a:r>
            <a:r>
              <a:rPr lang="en-US" b="1" dirty="0" smtClean="0"/>
              <a:t>Troubleshooting NAT: debug command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b="1" dirty="0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F77EF-9F5D-4805-BD17-79024BE7C85C}" type="slidenum">
              <a:rPr lang="en-US" smtClean="0"/>
              <a:pPr/>
              <a:t>46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11 </a:t>
            </a:r>
            <a:r>
              <a:rPr lang="en-US" b="1" dirty="0" smtClean="0"/>
              <a:t>Summary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F77EF-9F5D-4805-BD17-79024BE7C85C}" type="slidenum">
              <a:rPr lang="en-US" smtClean="0"/>
              <a:pPr/>
              <a:t>47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11 </a:t>
            </a:r>
            <a:r>
              <a:rPr lang="en-US" b="1" dirty="0" smtClean="0"/>
              <a:t>Summary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C31C4615-7F19-455B-A5C4-EA1B3B194C81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ACFA795C-7F0A-48D8-9FC3-F2BA5F8EB736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800100" indent="-342900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58EC189E-ADD4-420E-B89E-1E32C54438D7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C5E045-6C48-46C0-92AE-30A8710B0BBD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 smtClean="0"/>
              <a:t>11. fejezet:  </a:t>
            </a:r>
            <a:r>
              <a:rPr lang="en-US" sz="2800" dirty="0" smtClean="0"/>
              <a:t>Hálózati Címfordítás IPv4-hez  </a:t>
            </a:r>
            <a:endParaRPr lang="en-US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Útválasztás és Váltás</a:t>
            </a:r>
            <a:endParaRPr lang="en-US" sz="2400" dirty="0" smtClean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1115" y="439122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11. fejezet  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18615" y="1487606"/>
            <a:ext cx="8360273" cy="4551244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11.1  </a:t>
            </a:r>
            <a:r>
              <a:rPr lang="en-US" sz="2000" dirty="0" smtClean="0">
                <a:cs typeface="Arial" charset="0"/>
              </a:rPr>
              <a:t>NAT Működés 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11.2  </a:t>
            </a:r>
            <a:r>
              <a:rPr lang="en-US" sz="2000" dirty="0" smtClean="0">
                <a:cs typeface="Arial" charset="0"/>
              </a:rPr>
              <a:t>NAT Beállítása 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11.3  </a:t>
            </a:r>
            <a:r>
              <a:rPr lang="en-US" sz="2000" dirty="0" smtClean="0">
                <a:cs typeface="Arial" charset="0"/>
              </a:rPr>
              <a:t>NAT Hibaelhárítás 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11.4  </a:t>
            </a:r>
            <a:r>
              <a:rPr lang="en-US" sz="2000" dirty="0" smtClean="0">
                <a:cs typeface="Arial" charset="0"/>
              </a:rPr>
              <a:t>Összefoglaló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0172" y="411826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11. fejezet:  </a:t>
            </a:r>
            <a:r>
              <a:rPr lang="en-US" dirty="0" smtClean="0">
                <a:ea typeface="ＭＳ Ｐゴシック" pitchFamily="34" charset="-128"/>
              </a:rPr>
              <a:t>Célok 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95786" y="1405719"/>
            <a:ext cx="8195220" cy="4462012"/>
          </a:xfrm>
        </p:spPr>
        <p:txBody>
          <a:bodyPr/>
          <a:lstStyle/>
          <a:p>
            <a:r>
              <a:rPr lang="en-US" sz="2000" dirty="0" smtClean="0"/>
              <a:t>Ismertesse a NAT jellemzőit.  </a:t>
            </a:r>
          </a:p>
          <a:p>
            <a:r>
              <a:rPr lang="en-US" sz="2000" dirty="0" smtClean="0"/>
              <a:t>Ismertesse a NAT előnyeit és hátrányait.  </a:t>
            </a:r>
          </a:p>
          <a:p>
            <a:r>
              <a:rPr lang="en-US" sz="2000" dirty="0" smtClean="0"/>
              <a:t>Állítsa be a statikus NAT-ot a CLI használatával.  </a:t>
            </a:r>
          </a:p>
          <a:p>
            <a:r>
              <a:rPr lang="en-US" sz="2000" dirty="0" smtClean="0"/>
              <a:t>Állítsa be a dinamikus NAT-ot a CLI használatával.  </a:t>
            </a:r>
          </a:p>
          <a:p>
            <a:r>
              <a:rPr lang="en-US" sz="2000" dirty="0" smtClean="0"/>
              <a:t>Állítsa be a PAT-ot a CLI segítségével.  </a:t>
            </a:r>
            <a:r>
              <a:rPr lang="en-US" sz="2000" dirty="0"/>
              <a:t>Állítsa be a porttovábbítást a CLI használatával.  </a:t>
            </a:r>
            <a:r>
              <a:rPr lang="en-US" sz="2000" dirty="0" smtClean="0"/>
              <a:t>Állítsa be a NAT64-et.  </a:t>
            </a:r>
          </a:p>
          <a:p>
            <a:r>
              <a:rPr lang="en-US" sz="2000" dirty="0" smtClean="0"/>
              <a:t>Használja a show parancsokat a NAT működésének ellenőrzésére.</a:t>
            </a:r>
            <a:r>
              <a:rPr lang="en-US" sz="2000" dirty="0"/>
              <a:t>port forwarding </a:t>
            </a:r>
            <a:r>
              <a:rPr lang="en-US" sz="2000" dirty="0" smtClean="0"/>
              <a:t>using </a:t>
            </a:r>
            <a:r>
              <a:rPr lang="en-US" sz="2000" dirty="0"/>
              <a:t>the </a:t>
            </a:r>
            <a:r>
              <a:rPr lang="en-US" sz="2000" dirty="0" smtClean="0"/>
              <a:t>CLI.</a:t>
            </a:r>
          </a:p>
          <a:p>
            <a:r>
              <a:rPr lang="en-US" sz="2000" dirty="0" smtClean="0"/>
              <a:t>Configure NAT64.</a:t>
            </a:r>
          </a:p>
          <a:p>
            <a:r>
              <a:rPr lang="en-US" sz="2000" dirty="0" smtClean="0"/>
              <a:t>Use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show</a:t>
            </a:r>
            <a:r>
              <a:rPr lang="en-US" sz="2000" dirty="0" smtClean="0"/>
              <a:t> commands to verify NAT</a:t>
            </a:r>
            <a:r>
              <a:rPr lang="en-US" sz="2000" dirty="0"/>
              <a:t> </a:t>
            </a:r>
            <a:r>
              <a:rPr lang="en-US" sz="2000" dirty="0" smtClean="0"/>
              <a:t>operation.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 smtClean="0"/>
              <a:t>11.1  </a:t>
            </a:r>
            <a:r>
              <a:rPr lang="en-US" sz="2400" dirty="0" smtClean="0">
                <a:ea typeface="ＭＳ Ｐゴシック" pitchFamily="34" charset="-128"/>
              </a:rPr>
              <a:t>NAT működés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6048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4" y="427207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Jellemzők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IPv4 Magán Cím Tér 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3409" y="1535567"/>
            <a:ext cx="8227105" cy="4487862"/>
          </a:xfrm>
        </p:spPr>
        <p:txBody>
          <a:bodyPr/>
          <a:lstStyle/>
          <a:p>
            <a:r>
              <a:rPr lang="en-US" sz="2000" dirty="0" smtClean="0"/>
              <a:t>Az IPv4 cím tér nem elég nagy ahhoz, hogy egyedileg címezze az összes eszközt, amelyet csatlakoztatni kell az Internethez.  </a:t>
            </a:r>
          </a:p>
          <a:p>
            <a:r>
              <a:rPr lang="en-US" sz="2000" dirty="0" smtClean="0"/>
              <a:t>A hálózati magáncímeket az RFC 1918 írja le, és olyan szervezetek vagy helyszínek belső használatára tervezték őket.  </a:t>
            </a:r>
          </a:p>
          <a:p>
            <a:r>
              <a:rPr lang="en-US" sz="2000" dirty="0" smtClean="0"/>
              <a:t>A magáncímeket nem irányítják az internetes routerek, míg a nyilvános címeket igen.  </a:t>
            </a:r>
          </a:p>
          <a:p>
            <a:r>
              <a:rPr lang="en-US" sz="2000" dirty="0" smtClean="0"/>
              <a:t>A magáncímek enyhíthetik az IPv4-előfordulás szűkösségét, de mivel nem irányítják őket internetes eszközök, először le kell őket fordítani.  </a:t>
            </a:r>
          </a:p>
          <a:p>
            <a:r>
              <a:rPr lang="en-US" sz="2000" dirty="0"/>
              <a:t>A NAT egy olyan folyamat, amelyet ilyen fordítások végrehajtására használnak.</a:t>
            </a:r>
            <a:r>
              <a:rPr lang="en-US" sz="2000" dirty="0" smtClean="0"/>
              <a:t>translation.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84753" y="481798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Jellemzők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IPv4 Magáncímzési Tér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536" y="1514924"/>
            <a:ext cx="6799898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17" y="3191324"/>
            <a:ext cx="8827535" cy="3081968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708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39278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Jellemzők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Mi az NAT? 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3409" y="1390426"/>
            <a:ext cx="8187191" cy="5067523"/>
          </a:xfrm>
        </p:spPr>
        <p:txBody>
          <a:bodyPr/>
          <a:lstStyle/>
          <a:p>
            <a:r>
              <a:rPr lang="en-US" sz="2000" dirty="0" smtClean="0"/>
              <a:t>Az NAT egy folyamat, amelyet a hálózati címek fordítására használnak.  </a:t>
            </a:r>
          </a:p>
          <a:p>
            <a:r>
              <a:rPr lang="en-US" sz="2000" dirty="0" smtClean="0"/>
              <a:t>Az NAT elsődleges felhasználása a nyilvános IPv4 címek megőrzése.  </a:t>
            </a:r>
          </a:p>
          <a:p>
            <a:r>
              <a:rPr lang="en-US" sz="2000" dirty="0" smtClean="0"/>
              <a:t>Az NAT általában határhálózati eszközökön, például tűzfalakon vagy útválasztókon kerül végrehajtásra.  </a:t>
            </a:r>
          </a:p>
          <a:p>
            <a:r>
              <a:rPr lang="en-US" sz="2000" dirty="0" smtClean="0"/>
              <a:t>Az NAT lehetővé teszi a hálózatok számára, hogy belsőleg privát címeket használjanak, csak akkor fordítva nyilvános címekre, amikor szükséges.  </a:t>
            </a:r>
          </a:p>
          <a:p>
            <a:r>
              <a:rPr lang="en-US" sz="2000" dirty="0" smtClean="0"/>
              <a:t>A szervezeten belüli eszközök privát címeket kaphatnak, és helyi szinten egyedi címekkel működhetnek.  </a:t>
            </a:r>
          </a:p>
          <a:p>
            <a:r>
              <a:rPr lang="en-US" sz="2000" dirty="0" smtClean="0"/>
              <a:t>Amikor a forgalmat más szervezetekhez vagy az Internethez kell küldeni vagy fogadni, a határellenőrző útválasztó a címeket nyilvános és globálisan egyedi címre fordítja.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591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88507" y="42639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jellemzők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Mi az NAT? (folytatás)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335" y="1727714"/>
            <a:ext cx="6342069" cy="4580383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459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409" y="1691396"/>
            <a:ext cx="4818820" cy="3194498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4" y="427207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Jellemzők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NAT Terminológia 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0900" y="1554919"/>
            <a:ext cx="3725509" cy="4108903"/>
          </a:xfrm>
        </p:spPr>
        <p:txBody>
          <a:bodyPr/>
          <a:lstStyle/>
          <a:p>
            <a:r>
              <a:rPr lang="en-US" sz="2000" dirty="0" smtClean="0"/>
              <a:t>A belső hálózat az eszközök halmaza, amelyek privát címeket használnak  </a:t>
            </a:r>
          </a:p>
          <a:p>
            <a:r>
              <a:rPr lang="en-US" sz="2000" dirty="0" smtClean="0"/>
              <a:t>A külső hálózat minden egyéb hálózatra utal  </a:t>
            </a:r>
          </a:p>
          <a:p>
            <a:r>
              <a:rPr lang="en-US" sz="2000" dirty="0" smtClean="0"/>
              <a:t>A NAT négy típusú címet tartalmaz:  </a:t>
            </a:r>
          </a:p>
          <a:p>
            <a:pPr marL="682625" lvl="1" indent="-225425">
              <a:buFont typeface="Arial" pitchFamily="34" charset="0"/>
              <a:buChar char="•"/>
            </a:pPr>
            <a:r>
              <a:rPr lang="en-US" dirty="0"/>
              <a:t>Belső helyi cím  </a:t>
            </a:r>
          </a:p>
          <a:p>
            <a:pPr marL="682625" lvl="1" indent="-225425">
              <a:buFont typeface="Arial" pitchFamily="34" charset="0"/>
              <a:buChar char="•"/>
            </a:pPr>
            <a:r>
              <a:rPr lang="en-US" dirty="0"/>
              <a:t>Belső globális cím  </a:t>
            </a:r>
          </a:p>
          <a:p>
            <a:pPr marL="682625" lvl="1" indent="-225425">
              <a:buFont typeface="Arial" pitchFamily="34" charset="0"/>
              <a:buChar char="•"/>
            </a:pPr>
            <a:r>
              <a:rPr lang="en-US" dirty="0"/>
              <a:t>Külső helyi cím  </a:t>
            </a:r>
          </a:p>
          <a:p>
            <a:pPr marL="682625" lvl="1" indent="-225425">
              <a:buFont typeface="Arial" pitchFamily="34" charset="0"/>
              <a:buChar char="•"/>
            </a:pPr>
            <a:r>
              <a:rPr lang="en-US" dirty="0"/>
              <a:t>Külső globális cím 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711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2183" y="427206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Jellemzők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NAT Terminológia (folyt.)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677" y="1479992"/>
            <a:ext cx="6848475" cy="4819650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722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4686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típusai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Statikus NAT  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23409" y="1458667"/>
            <a:ext cx="8227105" cy="4487862"/>
          </a:xfrm>
        </p:spPr>
        <p:txBody>
          <a:bodyPr/>
          <a:lstStyle/>
          <a:p>
            <a:r>
              <a:rPr lang="en-US" sz="2000" dirty="0"/>
              <a:t>A statikus NAT egy az egyhez térképezést használ a helyi és globális címek között.  </a:t>
            </a:r>
            <a:r>
              <a:rPr lang="en-US" sz="2000" dirty="0" smtClean="0"/>
              <a:t>Ezeket  </a:t>
            </a:r>
          </a:p>
          <a:p>
            <a:r>
              <a:rPr lang="en-US" sz="2000" dirty="0" smtClean="0"/>
              <a:t>a térképezéseket a hálózati adminisztrátor állítja be, és állandóak maradnak.  </a:t>
            </a:r>
            <a:r>
              <a:rPr lang="en-US" sz="2000" dirty="0"/>
              <a:t>A statikus NAT különösen hasznos,  </a:t>
            </a:r>
            <a:r>
              <a:rPr lang="en-US" sz="2000" dirty="0" smtClean="0"/>
              <a:t>ha a belső hálózaton hosztolt szerverek  </a:t>
            </a:r>
          </a:p>
          <a:p>
            <a:r>
              <a:rPr lang="en-US" sz="2000" dirty="0"/>
              <a:t>elérhetők kell hogy legyenek  </a:t>
            </a:r>
            <a:r>
              <a:rPr lang="en-US" sz="2000" dirty="0" smtClean="0"/>
              <a:t>a külső hálózatról.  </a:t>
            </a:r>
            <a:r>
              <a:rPr lang="en-US" sz="2000" dirty="0"/>
              <a:t>A  </a:t>
            </a:r>
            <a:r>
              <a:rPr lang="en-US" sz="2000" dirty="0" smtClean="0"/>
              <a:t>hálózati adminisztrátor  </a:t>
            </a:r>
          </a:p>
          <a:p>
            <a:r>
              <a:rPr lang="en-US" sz="2000" dirty="0" smtClean="0"/>
              <a:t>SSH-val  </a:t>
            </a:r>
            <a:r>
              <a:rPr lang="en-US" sz="2000" dirty="0"/>
              <a:t>kapcsolódhat  </a:t>
            </a:r>
            <a:r>
              <a:rPr lang="en-US" sz="2000" dirty="0" smtClean="0"/>
              <a:t>a belső hálózaton lévő szerverhez az SSH kliens megfelelő belső globális címre irányításával.</a:t>
            </a:r>
            <a:r>
              <a:rPr lang="en-US" sz="2000" dirty="0"/>
              <a:t>SSH to </a:t>
            </a:r>
            <a:r>
              <a:rPr lang="en-US" sz="2000" dirty="0" smtClean="0"/>
              <a:t>a server in the inside network by pointing the SSH client to the proper inside global address.</a:t>
            </a:r>
          </a:p>
        </p:txBody>
      </p:sp>
    </p:spTree>
    <p:extLst>
      <p:ext uri="{BB962C8B-B14F-4D97-AF65-F5344CB8AC3E}">
        <p14:creationId xmlns:p14="http://schemas.microsoft.com/office/powerpoint/2010/main" val="381011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99269" y="454963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A NAT típusai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Statikus NAT (folyt.)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398" y="1293163"/>
            <a:ext cx="6243205" cy="5316682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875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4686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típusok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Dinamikus NAT  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23409" y="1445019"/>
            <a:ext cx="8227105" cy="4487862"/>
          </a:xfrm>
        </p:spPr>
        <p:txBody>
          <a:bodyPr/>
          <a:lstStyle/>
          <a:p>
            <a:r>
              <a:rPr lang="en-US" sz="2000" dirty="0"/>
              <a:t>A dinamikus NAT nyilvános címek egy csoportját használja, és ezeket az elsőként érkezett, elsőként kiszolgált elv szerint osztja ki.  </a:t>
            </a:r>
            <a:r>
              <a:rPr lang="en-US" sz="2000" dirty="0" smtClean="0"/>
              <a:t>Amikor egy belső eszköz hozzáférést kér egy külső hálózathoz, a dinamikus NAT egy elérhető nyilvános IPv4 címet rendel a csoportból.  </a:t>
            </a:r>
          </a:p>
          <a:p>
            <a:r>
              <a:rPr lang="en-US" sz="2000" dirty="0" smtClean="0"/>
              <a:t>A dinamikus NAT megköveteli, hogy elegendő nyilvános cím álljon rendelkezésre a párhuzamos felhasználói munkamenetek teljes számának kielégítésére.</a:t>
            </a:r>
            <a:r>
              <a:rPr lang="en-US" sz="2000" dirty="0"/>
              <a:t>an inside device requests access to an outside network, dynamic NAT assigns an available public IPv4 address from the </a:t>
            </a:r>
            <a:r>
              <a:rPr lang="en-US" sz="2000" dirty="0" smtClean="0"/>
              <a:t>pool.</a:t>
            </a:r>
          </a:p>
          <a:p>
            <a:r>
              <a:rPr lang="en-US" sz="2000" dirty="0" smtClean="0"/>
              <a:t>Dynamic </a:t>
            </a:r>
            <a:r>
              <a:rPr lang="en-US" sz="2000" dirty="0"/>
              <a:t>NAT requires that enough public addresses are available to satisfy the total number of simultaneous user </a:t>
            </a:r>
            <a:r>
              <a:rPr lang="en-US" sz="2000" dirty="0" smtClean="0"/>
              <a:t>sessions.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528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386" y="1470197"/>
            <a:ext cx="6029235" cy="5122330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5272" y="454502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típusai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Dinamikus NAT (folyt.)</a:t>
            </a:r>
          </a:p>
        </p:txBody>
      </p:sp>
    </p:spTree>
    <p:extLst>
      <p:ext uri="{BB962C8B-B14F-4D97-AF65-F5344CB8AC3E}">
        <p14:creationId xmlns:p14="http://schemas.microsoft.com/office/powerpoint/2010/main" val="312358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07516" y="481798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A NAT típusai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Portcímfordítás  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518945" y="1390427"/>
            <a:ext cx="8161032" cy="4487862"/>
          </a:xfrm>
        </p:spPr>
        <p:txBody>
          <a:bodyPr/>
          <a:lstStyle/>
          <a:p>
            <a:r>
              <a:rPr lang="en-US" sz="2000" dirty="0" smtClean="0"/>
              <a:t>A Portcímfordítás (PAT) több magán IPv4 címet egyetlen nyilvános IPv4 címre vagy néhány címre térképez fel.  </a:t>
            </a:r>
            <a:r>
              <a:rPr lang="en-US" sz="2000" dirty="0"/>
              <a:t>A PAT a forrás port és a forrás IP cím párját használja, hogy nyomon kövesse, hogy mely forgalom melyik belső klienshez tartozik.  </a:t>
            </a:r>
            <a:r>
              <a:rPr lang="en-US" sz="2000" dirty="0" smtClean="0"/>
              <a:t>A PAT-ot NAT túlterhelésnek is nevezik.  </a:t>
            </a:r>
          </a:p>
          <a:p>
            <a:r>
              <a:rPr lang="en-US" sz="2000" dirty="0" smtClean="0"/>
              <a:t>A port szám használatával a PAT a válaszcsomagokat a megfelelő belső eszközre továbbítja.  </a:t>
            </a:r>
          </a:p>
          <a:p>
            <a:r>
              <a:rPr lang="en-US" sz="2000" dirty="0" smtClean="0"/>
              <a:t>A PAT folyamat emellett érvényesíti, hogy a bejövő csomagokat igényelték, így fokozva a biztonságot a munkamenethez.</a:t>
            </a:r>
          </a:p>
          <a:p>
            <a:r>
              <a:rPr lang="en-US" sz="2000" dirty="0" smtClean="0"/>
              <a:t>By also using the port number, PAT forwards the response packets to the correct internal device.</a:t>
            </a:r>
          </a:p>
          <a:p>
            <a:r>
              <a:rPr lang="en-US" sz="2000" dirty="0" smtClean="0"/>
              <a:t>The PAT </a:t>
            </a:r>
            <a:r>
              <a:rPr lang="en-US" sz="2000" dirty="0"/>
              <a:t>process also validates that the incoming packets were requested, thus adding a degree of security to the </a:t>
            </a:r>
            <a:r>
              <a:rPr lang="en-US" sz="2000" dirty="0" smtClean="0"/>
              <a:t>session.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990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25629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típusai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NAT és PAT összehasonlítása  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78000" y="1472313"/>
            <a:ext cx="8227105" cy="4487862"/>
          </a:xfrm>
        </p:spPr>
        <p:txBody>
          <a:bodyPr/>
          <a:lstStyle/>
          <a:p>
            <a:r>
              <a:rPr lang="en-US" sz="2000" dirty="0"/>
              <a:t>A NAT 1:1 arányban fordítja le a magán IPv4 címeket a nyilvános IPv4 címekre.  </a:t>
            </a:r>
            <a:r>
              <a:rPr lang="en-US" sz="2000" dirty="0" smtClean="0"/>
              <a:t>PAT  </a:t>
            </a:r>
          </a:p>
          <a:p>
            <a:r>
              <a:rPr lang="en-US" sz="2000" dirty="0" smtClean="0"/>
              <a:t>módosítja mind az címet, mind a port  </a:t>
            </a:r>
            <a:r>
              <a:rPr lang="en-US" sz="2000" dirty="0"/>
              <a:t>számot.  </a:t>
            </a:r>
            <a:r>
              <a:rPr lang="en-US" sz="2000" dirty="0" smtClean="0"/>
              <a:t>A NAT a bejövő csomagokat az belső célállomásra irányítja azzal, hogy hivatkozik a bejövő forrás IPv4 címre,  </a:t>
            </a:r>
          </a:p>
          <a:p>
            <a:r>
              <a:rPr lang="en-US" sz="2000" dirty="0"/>
              <a:t>amelyet a  </a:t>
            </a:r>
            <a:r>
              <a:rPr lang="en-US" sz="2000" dirty="0" smtClean="0"/>
              <a:t>nyilvános  </a:t>
            </a:r>
            <a:r>
              <a:rPr lang="en-US" sz="2000" dirty="0"/>
              <a:t>hálózaton található  </a:t>
            </a:r>
            <a:r>
              <a:rPr lang="en-US" sz="2000" dirty="0" smtClean="0"/>
              <a:t>gazda biztosít.  </a:t>
            </a:r>
          </a:p>
          <a:p>
            <a:r>
              <a:rPr lang="en-US" sz="2000" dirty="0" smtClean="0"/>
              <a:t>A  </a:t>
            </a:r>
            <a:r>
              <a:rPr lang="en-US" sz="2000" dirty="0"/>
              <a:t>PAT esetén általában csak egy vagy nagyon kevés nyilvánosan látható IPv4  </a:t>
            </a:r>
            <a:r>
              <a:rPr lang="en-US" sz="2000" dirty="0" smtClean="0"/>
              <a:t>cím van.  </a:t>
            </a:r>
          </a:p>
          <a:p>
            <a:r>
              <a:rPr lang="en-US" sz="2000" dirty="0" smtClean="0"/>
              <a:t>A PAT képes lefordítani azokat a protokollokat, amelyek nem használják a portszámokat, például az ICMP-t; ezek közül a protokollok közül mindegyik támogatása eltérő a PAT által.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052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25629" y="454502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A NAT előnyei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A NAT előnyei  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37056" y="1510985"/>
            <a:ext cx="8227105" cy="4487862"/>
          </a:xfrm>
        </p:spPr>
        <p:txBody>
          <a:bodyPr/>
          <a:lstStyle/>
          <a:p>
            <a:r>
              <a:rPr lang="en-US" sz="2000" dirty="0" smtClean="0"/>
              <a:t>Megőrzi a jogilag regisztrált címzési rendszert  </a:t>
            </a:r>
          </a:p>
          <a:p>
            <a:r>
              <a:rPr lang="pt-BR" sz="2000" dirty="0" smtClean="0"/>
              <a:t>Növeli a kapcsolatok rugalmasságát a nyilvános hálózathoz  </a:t>
            </a:r>
          </a:p>
          <a:p>
            <a:r>
              <a:rPr lang="pt-BR" sz="2000" dirty="0" smtClean="0"/>
              <a:t>Konzisztenciát biztosít a belső hálózati címzési rendszerek számára  </a:t>
            </a:r>
          </a:p>
          <a:p>
            <a:r>
              <a:rPr lang="pt-BR" sz="2000" dirty="0" smtClean="0"/>
              <a:t>Biztosítja a hálózati biztonságot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0851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5" y="49544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A NAT előnyei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A NAT hátrányai  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382465" y="1551929"/>
            <a:ext cx="8227105" cy="4487862"/>
          </a:xfrm>
        </p:spPr>
        <p:txBody>
          <a:bodyPr/>
          <a:lstStyle/>
          <a:p>
            <a:r>
              <a:rPr lang="en-US" sz="2000" dirty="0" smtClean="0"/>
              <a:t>A teljesítmény csökkent  </a:t>
            </a:r>
          </a:p>
          <a:p>
            <a:r>
              <a:rPr lang="pt-BR" sz="2000" dirty="0" smtClean="0"/>
              <a:t>A végpontok közötti funkció csökkent  </a:t>
            </a:r>
          </a:p>
          <a:p>
            <a:r>
              <a:rPr lang="pt-BR" sz="2000" dirty="0" smtClean="0"/>
              <a:t>A végpontok közötti IP nyomozhatóság elveszik  </a:t>
            </a:r>
          </a:p>
          <a:p>
            <a:r>
              <a:rPr lang="pt-BR" sz="2000" dirty="0" smtClean="0"/>
              <a:t>A tunneling bonyolultabb  </a:t>
            </a:r>
          </a:p>
          <a:p>
            <a:r>
              <a:rPr lang="pt-BR" sz="2000" dirty="0" smtClean="0"/>
              <a:t>A TCP kapcsolatok kezdeményezése megszakítható</a:t>
            </a:r>
          </a:p>
        </p:txBody>
      </p:sp>
    </p:spTree>
    <p:extLst>
      <p:ext uri="{BB962C8B-B14F-4D97-AF65-F5344CB8AC3E}">
        <p14:creationId xmlns:p14="http://schemas.microsoft.com/office/powerpoint/2010/main" val="153052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 smtClean="0"/>
              <a:t>11.2  </a:t>
            </a:r>
            <a:r>
              <a:rPr lang="en-US" sz="2400" dirty="0" smtClean="0"/>
              <a:t>NAT konfigurálása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6048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4" y="481798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Statikus NAT konfigurálása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Statikus NAT konfigurálása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370113" y="1567542"/>
            <a:ext cx="7917543" cy="38970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Két alapvető feladat van </a:t>
            </a:r>
            <a:r>
              <a:rPr lang="en-US" dirty="0" smtClean="0"/>
              <a:t>a statikus NAT </a:t>
            </a:r>
            <a:r>
              <a:rPr lang="en-US" dirty="0"/>
              <a:t>fordítások konfigurálásakor:</a:t>
            </a:r>
            <a:r>
              <a:rPr lang="en-US" dirty="0" smtClean="0"/>
              <a:t>Hozza létre a térképet a belső helyi és a külső helyi </a:t>
            </a:r>
          </a:p>
          <a:p>
            <a:r>
              <a:rPr lang="en-US" dirty="0"/>
              <a:t>címek között.</a:t>
            </a:r>
            <a:r>
              <a:rPr lang="en-US" dirty="0" smtClean="0"/>
              <a:t>Határozza meg, hogy mely </a:t>
            </a:r>
            <a:endParaRPr lang="en-US" dirty="0"/>
          </a:p>
          <a:p>
            <a:r>
              <a:rPr lang="en-US" dirty="0"/>
              <a:t>interfészek </a:t>
            </a:r>
            <a:r>
              <a:rPr lang="en-US" dirty="0" smtClean="0"/>
              <a:t>tartoznak a belső hálózathoz és melyek a külső </a:t>
            </a:r>
            <a:r>
              <a:rPr lang="en-US" dirty="0"/>
              <a:t>hálózathoz.</a:t>
            </a:r>
            <a:r>
              <a:rPr lang="en-US" dirty="0" smtClean="0"/>
              <a:t>network.</a:t>
            </a:r>
            <a:endParaRPr lang="en-US" dirty="0"/>
          </a:p>
          <a:p>
            <a:pPr marL="119063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0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1982" y="513019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Statikus NAT konfigurálása  </a:t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Statikus NAT konfigurálása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389" y="1351219"/>
            <a:ext cx="5810250" cy="5316682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868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26699" y="49544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Statikus NAT konfigurálása  </a:t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Statikus NAT elemzése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43" y="1550954"/>
            <a:ext cx="7648575" cy="4830128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864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99269" y="557726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Statikus NAT konfigurálása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Statikus NAT ellenőrzése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90" y="1395926"/>
            <a:ext cx="8544821" cy="4995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749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532165"/>
            <a:ext cx="6372225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4" y="509093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Statikus NAT konfigurálása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Statikus NAT ellenőrzése (folytatás)</a:t>
            </a:r>
          </a:p>
        </p:txBody>
      </p:sp>
    </p:spTree>
    <p:extLst>
      <p:ext uri="{BB962C8B-B14F-4D97-AF65-F5344CB8AC3E}">
        <p14:creationId xmlns:p14="http://schemas.microsoft.com/office/powerpoint/2010/main" val="172274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4686" y="481798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Konfigurálás </a:t>
            </a:r>
            <a:r>
              <a:rPr lang="en-US" sz="1800" dirty="0" smtClean="0">
                <a:ea typeface="ＭＳ Ｐゴシック" pitchFamily="34" charset="-128"/>
              </a:rPr>
              <a:t>Dinamikus NAT</a:t>
            </a:r>
            <a:r>
              <a:rPr lang="en-US" sz="1800" dirty="0">
                <a:ea typeface="ＭＳ Ｐゴシック" pitchFamily="34" charset="-128"/>
              </a:rPr>
              <a:t/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Dinamikus NAT Működés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23411" y="1390427"/>
            <a:ext cx="7951332" cy="4487862"/>
          </a:xfrm>
        </p:spPr>
        <p:txBody>
          <a:bodyPr/>
          <a:lstStyle/>
          <a:p>
            <a:r>
              <a:rPr lang="en-US" sz="2000" dirty="0"/>
              <a:t>A nyilvános IPv4 címek medencéje (belső globális cím medence) bármely, a belső hálózaton lévő eszköz számára elérhető </a:t>
            </a:r>
            <a:r>
              <a:rPr lang="en-US" sz="2000" dirty="0" smtClean="0"/>
              <a:t>elsőként érkezik,</a:t>
            </a:r>
            <a:r>
              <a:rPr lang="en-US" sz="2000" dirty="0"/>
              <a:t>elsőként szolgálják ki </a:t>
            </a:r>
            <a:r>
              <a:rPr lang="en-US" sz="2000" dirty="0" smtClean="0"/>
              <a:t>alapon.</a:t>
            </a:r>
          </a:p>
          <a:p>
            <a:r>
              <a:rPr lang="en-US" sz="2000" dirty="0" smtClean="0"/>
              <a:t>Dinamikus NAT esetén egyetlen belső cím egyetlen külső </a:t>
            </a:r>
            <a:r>
              <a:rPr lang="en-US" sz="2000" dirty="0"/>
              <a:t>címre van fordítva.</a:t>
            </a:r>
            <a:r>
              <a:rPr lang="en-US" sz="2000" dirty="0" smtClean="0"/>
              <a:t>A medencének elég nagynak kell lennie ahhoz, hogy valamennyi belső eszközt kiszolgáljon.</a:t>
            </a:r>
          </a:p>
          <a:p>
            <a:r>
              <a:rPr lang="en-US" sz="2000" dirty="0" smtClean="0"/>
              <a:t>Egy eszköz nem képes kommunikálni semmilyen külső hálózattal, ha a medencében nincsenek elérhető címek.</a:t>
            </a:r>
          </a:p>
          <a:p>
            <a:r>
              <a:rPr lang="en-US" sz="2000" dirty="0" smtClean="0"/>
              <a:t>A device is unable to communicate to any external networks if no addresses are available in the pool.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998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43743" y="44085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Dinamikus NAT konfigurálása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r>
              <a:rPr lang="en-US" sz="1800" dirty="0">
                <a:ea typeface="ＭＳ Ｐゴシック" pitchFamily="34" charset="-128"/>
              </a:rPr>
              <a:t>Dinamikus NAT konfigurálása</a:t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Configuring Dynamic NAT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86" y="1667869"/>
            <a:ext cx="6922450" cy="4597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420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391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Konfigurálás  </a:t>
            </a:r>
            <a:r>
              <a:rPr lang="en-US" sz="1800" dirty="0" smtClean="0">
                <a:ea typeface="ＭＳ Ｐゴシック" pitchFamily="34" charset="-128"/>
              </a:rPr>
              <a:t>Dinamikus NAT  </a:t>
            </a:r>
            <a:r>
              <a:rPr lang="en-US" sz="1800" dirty="0">
                <a:ea typeface="ＭＳ Ｐゴシック" pitchFamily="34" charset="-128"/>
              </a:rPr>
              <a:t/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Dinamikus NAT elemzése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905" y="1518527"/>
            <a:ext cx="5597715" cy="4793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124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2185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Dinamikus NAT konfigurálása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r>
              <a:rPr lang="en-US" sz="1800" dirty="0">
                <a:ea typeface="ＭＳ Ｐゴシック" pitchFamily="34" charset="-128"/>
              </a:rPr>
              <a:t>Dinamikus NAT elemzése</a:t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Analyzing Dynamic NAT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968" y="1466365"/>
            <a:ext cx="5594231" cy="4766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761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4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Konfigurálás  </a:t>
            </a:r>
            <a:r>
              <a:rPr lang="en-US" sz="1800" dirty="0" smtClean="0">
                <a:ea typeface="ＭＳ Ｐゴシック" pitchFamily="34" charset="-128"/>
              </a:rPr>
              <a:t>Dinamikus NAT</a:t>
            </a:r>
            <a:r>
              <a:rPr lang="en-US" sz="1800" dirty="0">
                <a:ea typeface="ＭＳ Ｐゴシック" pitchFamily="34" charset="-128"/>
              </a:rPr>
              <a:t/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Dinamikus NAT ellenőrzése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7" y="1589995"/>
            <a:ext cx="6448425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6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39277" y="574674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A Dynamic NAT konfigurálása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r>
              <a:rPr lang="en-US" sz="1800" dirty="0">
                <a:ea typeface="ＭＳ Ｐゴシック" pitchFamily="34" charset="-128"/>
              </a:rPr>
              <a:t>A Dynamic NAT ellenőrzése</a:t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Verifying Dynamic NAT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473" y="1549351"/>
            <a:ext cx="5827568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515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63" y="1270483"/>
            <a:ext cx="7308274" cy="5507182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4" y="432283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A PAT konfigurálása: Címkészlet</a:t>
            </a:r>
            <a:r>
              <a:rPr lang="en-US" sz="1800" dirty="0" smtClean="0">
                <a:ea typeface="ＭＳ Ｐゴシック" pitchFamily="34" charset="-128"/>
              </a:rPr>
              <a:t>PAT</a:t>
            </a:r>
            <a:r>
              <a:rPr lang="en-US" sz="1800" dirty="0">
                <a:ea typeface="ＭＳ Ｐゴシック" pitchFamily="34" charset="-128"/>
              </a:rPr>
              <a:t/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Configuring PAT: Address Pool</a:t>
            </a:r>
          </a:p>
        </p:txBody>
      </p:sp>
    </p:spTree>
    <p:extLst>
      <p:ext uri="{BB962C8B-B14F-4D97-AF65-F5344CB8AC3E}">
        <p14:creationId xmlns:p14="http://schemas.microsoft.com/office/powerpoint/2010/main" val="291189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71038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PAT konfigurálása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r>
              <a:rPr lang="en-US" sz="1800" dirty="0">
                <a:ea typeface="ＭＳ Ｐゴシック" pitchFamily="34" charset="-128"/>
              </a:rPr>
              <a:t>PAT konfigurálása: Egyetlen cím</a:t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Configuring PAT: Single Address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832" y="1637000"/>
            <a:ext cx="6878460" cy="4204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999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6" y="528173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Konfigurálás </a:t>
            </a:r>
            <a:r>
              <a:rPr lang="en-US" sz="1800" dirty="0" smtClean="0">
                <a:ea typeface="ＭＳ Ｐゴシック" pitchFamily="34" charset="-128"/>
              </a:rPr>
              <a:t>PAT</a:t>
            </a:r>
            <a:r>
              <a:rPr lang="en-US" sz="1800" dirty="0">
                <a:ea typeface="ＭＳ Ｐゴシック" pitchFamily="34" charset="-128"/>
              </a:rPr>
              <a:t/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PAT elemzése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1366373"/>
            <a:ext cx="8029575" cy="5286375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9169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61" y="1269537"/>
            <a:ext cx="8096250" cy="5276850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391" y="431337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Konfigurálás  </a:t>
            </a:r>
            <a:r>
              <a:rPr lang="en-US" sz="1800" dirty="0" smtClean="0">
                <a:ea typeface="ＭＳ Ｐゴシック" pitchFamily="34" charset="-128"/>
              </a:rPr>
              <a:t>PAT</a:t>
            </a:r>
            <a:r>
              <a:rPr lang="en-US" sz="1800" dirty="0">
                <a:ea typeface="ＭＳ Ｐゴシック" pitchFamily="34" charset="-128"/>
              </a:rPr>
              <a:t/>
            </a:r>
            <a:br>
              <a:rPr lang="en-US" sz="1800" dirty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PAT elemzése</a:t>
            </a:r>
          </a:p>
        </p:txBody>
      </p:sp>
    </p:spTree>
    <p:extLst>
      <p:ext uri="{BB962C8B-B14F-4D97-AF65-F5344CB8AC3E}">
        <p14:creationId xmlns:p14="http://schemas.microsoft.com/office/powerpoint/2010/main" val="64581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4" y="454502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PAT konfigurálása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PAT fordítások ellenőrzése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486025"/>
            <a:ext cx="870585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859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270" y="3673303"/>
            <a:ext cx="5844886" cy="2450523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2925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Port továbbítás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Port továbbítás  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33047" y="1429372"/>
            <a:ext cx="7951332" cy="4487862"/>
          </a:xfrm>
        </p:spPr>
        <p:txBody>
          <a:bodyPr/>
          <a:lstStyle/>
          <a:p>
            <a:r>
              <a:rPr lang="en-US" sz="2000" dirty="0"/>
              <a:t>Port továbbítás  </a:t>
            </a:r>
            <a:r>
              <a:rPr lang="en-US" sz="2000" dirty="0" smtClean="0"/>
              <a:t>az  </a:t>
            </a:r>
            <a:r>
              <a:rPr lang="en-US" sz="2000" dirty="0"/>
              <a:t>a művelet, amely során egy hálózati portot átirányítanak egyik hálózati csomóponton a másikra.  </a:t>
            </a:r>
            <a:r>
              <a:rPr lang="en-US" sz="2000" dirty="0" smtClean="0"/>
              <a:t>Egy csomag, amelyet a router nyilvános IP címére és portjára küldenek, átirányítható egy privát IP címre és portra a belső hálózatban.  </a:t>
            </a:r>
          </a:p>
          <a:p>
            <a:r>
              <a:rPr lang="en-US" sz="2000" dirty="0" smtClean="0"/>
              <a:t>A port továbbítás hasznos olyan helyzetekben, ahol a szerverek privát címekkel rendelkeznek, amelyeket nem lehet elérni a külső hálózatokból.</a:t>
            </a:r>
          </a:p>
          <a:p>
            <a:r>
              <a:rPr lang="en-US" sz="2000" dirty="0" smtClean="0"/>
              <a:t>Port forwarding is helpful in situations where servers have private addresses, not reachable from the outside networks.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0107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8334" y="532709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Port továbbítás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SOHO példa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137" y="1558189"/>
            <a:ext cx="5938795" cy="4719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962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1982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Port Továbbítás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Port Továbbítás konfigurálása IOS-ban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23411" y="1390427"/>
            <a:ext cx="7951332" cy="448786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Az IOS-ban a port</a:t>
            </a:r>
            <a:r>
              <a:rPr lang="en-US" sz="2000" dirty="0"/>
              <a:t>továbbítás lényegében</a:t>
            </a:r>
            <a:r>
              <a:rPr lang="en-US" sz="2000" dirty="0" smtClean="0"/>
              <a:t>egy statikus NAT fordítás</a:t>
            </a:r>
            <a:r>
              <a:rPr lang="en-US" sz="2000" dirty="0"/>
              <a:t>egy megadott TCP vagy UDP port</a:t>
            </a:r>
            <a:r>
              <a:rPr lang="en-US" sz="2000" dirty="0" smtClean="0"/>
              <a:t>számmal.</a:t>
            </a:r>
          </a:p>
          <a:p>
            <a:endParaRPr lang="en-US" sz="2000" dirty="0" smtClean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344" y="2208800"/>
            <a:ext cx="5305661" cy="4305930"/>
          </a:xfrm>
          <a:prstGeom prst="rect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00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1982" y="481798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és IPv6 konfigurálása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NAT az  </a:t>
            </a:r>
            <a:r>
              <a:rPr lang="en-US" dirty="0" err="1" smtClean="0">
                <a:ea typeface="ＭＳ Ｐゴシック" pitchFamily="34" charset="-128"/>
              </a:rPr>
              <a:t>IPv6  </a:t>
            </a:r>
            <a:r>
              <a:rPr lang="en-US" dirty="0" smtClean="0">
                <a:ea typeface="ＭＳ Ｐゴシック" pitchFamily="34" charset="-128"/>
              </a:rPr>
              <a:t>?  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26255" y="1580927"/>
            <a:ext cx="7951332" cy="4487862"/>
          </a:xfrm>
        </p:spPr>
        <p:txBody>
          <a:bodyPr/>
          <a:lstStyle/>
          <a:p>
            <a:r>
              <a:rPr lang="en-US" sz="2000" dirty="0" smtClean="0"/>
              <a:t>A NAT a IPv4 címhiány megkerülésére szolgál.  </a:t>
            </a:r>
          </a:p>
          <a:p>
            <a:r>
              <a:rPr lang="en-US" sz="2000" dirty="0"/>
              <a:t>Az IPv6, amely 128 bites címet használ, 340 undecillion  </a:t>
            </a:r>
            <a:r>
              <a:rPr lang="en-US" sz="2000" dirty="0" smtClean="0"/>
              <a:t>címet biztosít.  </a:t>
            </a:r>
          </a:p>
          <a:p>
            <a:r>
              <a:rPr lang="en-US" sz="2000" dirty="0"/>
              <a:t>A  </a:t>
            </a:r>
            <a:r>
              <a:rPr lang="en-US" sz="2000" dirty="0" smtClean="0"/>
              <a:t>cím  </a:t>
            </a:r>
            <a:r>
              <a:rPr lang="en-US" sz="2000" dirty="0"/>
              <a:t>tartomány nem probléma az IPv6 számára.  </a:t>
            </a:r>
            <a:r>
              <a:rPr lang="en-US" sz="2000" dirty="0" smtClean="0"/>
              <a:t>Az IPv6 a  IPv4 nyilvános-magán NAT-ot feleslegessé teszi, azonban az IPv6  </a:t>
            </a:r>
          </a:p>
          <a:p>
            <a:r>
              <a:rPr lang="en-US" sz="2000" dirty="0" smtClean="0"/>
              <a:t>módosított egyfajta  </a:t>
            </a:r>
            <a:r>
              <a:rPr lang="en-US" sz="2000" dirty="0"/>
              <a:t>magáncímet valósít meg, és ez eltérően valósul meg, mint az IPv4 esetében.</a:t>
            </a:r>
            <a:r>
              <a:rPr lang="en-US" sz="2000" dirty="0" smtClean="0"/>
              <a:t>private addresses, and it is implemented differently than they are for IPv4.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6841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79680" y="454502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és IPv6 konfigurálása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IPv6 egyedi helyi címek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64355" y="1390427"/>
            <a:ext cx="7951332" cy="4487862"/>
          </a:xfrm>
        </p:spPr>
        <p:txBody>
          <a:bodyPr/>
          <a:lstStyle/>
          <a:p>
            <a:r>
              <a:rPr lang="en-US" sz="2000" dirty="0"/>
              <a:t>Az IPv6 egyedi helyi címek ( </a:t>
            </a:r>
            <a:r>
              <a:rPr lang="en-US" sz="2000" dirty="0" err="1" smtClean="0"/>
              <a:t>ULA-k</a:t>
            </a:r>
            <a:r>
              <a:rPr lang="en-US" sz="2000" dirty="0" smtClean="0"/>
              <a:t>) célja az IPv6 kommunikációk lehetővé tétele egy helyi helyszínen.</a:t>
            </a:r>
          </a:p>
          <a:p>
            <a:r>
              <a:rPr lang="en-US" sz="2000" dirty="0" err="1" smtClean="0"/>
              <a:t>Az </a:t>
            </a:r>
            <a:r>
              <a:rPr lang="en-US" sz="2000" dirty="0" smtClean="0"/>
              <a:t>ULA-k</a:t>
            </a:r>
            <a:r>
              <a:rPr lang="en-US" sz="2000" dirty="0"/>
              <a:t> nem </a:t>
            </a:r>
            <a:r>
              <a:rPr lang="en-US" sz="2000" dirty="0" smtClean="0"/>
              <a:t>célja, hogy további IPv6 cím </a:t>
            </a:r>
          </a:p>
          <a:p>
            <a:r>
              <a:rPr lang="en-US" sz="2000" dirty="0" err="1" smtClean="0"/>
              <a:t>térrel szolgáljanak.</a:t>
            </a:r>
            <a:r>
              <a:rPr lang="en-US" sz="2000" dirty="0" smtClean="0"/>
              <a:t>Az </a:t>
            </a:r>
            <a:r>
              <a:rPr lang="en-US" sz="2000" dirty="0"/>
              <a:t>ULA-k </a:t>
            </a:r>
            <a:r>
              <a:rPr lang="en-US" sz="2000" dirty="0" err="1" smtClean="0"/>
              <a:t>prefixével rendelkeznek: FC00::/7, ami egy FC00-tól </a:t>
            </a:r>
            <a:r>
              <a:rPr lang="en-US" sz="2000" dirty="0" smtClean="0"/>
              <a:t>FDFF</a:t>
            </a:r>
          </a:p>
          <a:p>
            <a:r>
              <a:rPr lang="en-US" sz="2000" dirty="0" smtClean="0"/>
              <a:t>-ig terjedő első hextet tartományt eredményez.</a:t>
            </a:r>
            <a:r>
              <a:rPr lang="en-US" sz="2000" dirty="0"/>
              <a:t>Az </a:t>
            </a:r>
            <a:r>
              <a:rPr lang="en-US" sz="2000" dirty="0" smtClean="0"/>
              <a:t>ULA-k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61" y="4047375"/>
            <a:ext cx="5965990" cy="2457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592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2925" y="495445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és IPv6 konfigurálása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/>
              <a:t>NAT  </a:t>
            </a:r>
            <a:r>
              <a:rPr lang="en-US" dirty="0" smtClean="0"/>
              <a:t>IPv6-hoz  </a:t>
            </a:r>
            <a:r>
              <a:rPr lang="en-US" dirty="0"/>
              <a:t>Az IPv6 szintén használ NAT-ot, de egészen más kontextusban.  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64355" y="1542827"/>
            <a:ext cx="7951332" cy="4487862"/>
          </a:xfrm>
        </p:spPr>
        <p:txBody>
          <a:bodyPr/>
          <a:lstStyle/>
          <a:p>
            <a:r>
              <a:rPr lang="en-US" sz="2000" dirty="0" smtClean="0"/>
              <a:t>Az IPv6-ban a NAT-t a transparens kommunikáció biztosítására használják az IPv6 és IPv4 között.  </a:t>
            </a:r>
          </a:p>
          <a:p>
            <a:r>
              <a:rPr lang="en-US" sz="2000" dirty="0" smtClean="0"/>
              <a:t>A NAT64 nem állandó megoldásnak készült; átmeneti mechanizmusnak szánták.  </a:t>
            </a:r>
          </a:p>
          <a:p>
            <a:r>
              <a:rPr lang="en-US" sz="2000" dirty="0" smtClean="0"/>
              <a:t>A Hálózati Címfordítás-Protokoll Fordítás (NAT-PT) egy másik NAT-alapú átmeneti mechanizmus volt az IPv6 számára, de az IETF már elavultnak nyilvánította.  </a:t>
            </a:r>
          </a:p>
          <a:p>
            <a:r>
              <a:rPr lang="en-US" sz="2000" dirty="0"/>
              <a:t>A NAT64 most ajánlott.</a:t>
            </a:r>
            <a:r>
              <a:rPr lang="en-US" sz="2000" dirty="0" smtClean="0"/>
              <a:t>) was another NAT-based transition mechanism for IPv6, but is now deprecated by IETF.</a:t>
            </a:r>
          </a:p>
          <a:p>
            <a:r>
              <a:rPr lang="en-US" sz="2000" dirty="0" smtClean="0"/>
              <a:t>NAT64 is now recommended.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6507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2183" y="468150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és IPv6 konfigurálása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/>
              <a:t>NAT  </a:t>
            </a:r>
            <a:r>
              <a:rPr lang="en-US" dirty="0" smtClean="0"/>
              <a:t>IPv6-hoz</a:t>
            </a:r>
            <a:r>
              <a:rPr lang="en-US" dirty="0"/>
              <a:t>IPv6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681" y="1457275"/>
            <a:ext cx="6764963" cy="4534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131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 smtClean="0"/>
              <a:t>11.3  </a:t>
            </a:r>
            <a:r>
              <a:rPr lang="en-US" sz="2400" dirty="0" smtClean="0"/>
              <a:t>NAT hibakeresés</a:t>
            </a:r>
            <a:endParaRPr lang="en-US" sz="2400" dirty="0" smtClean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6048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2971" y="454502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és IPv6 konfigurálása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NAT hibaelhárítás: show parancsok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66" y="1282677"/>
            <a:ext cx="5800511" cy="525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70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99269" y="46815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NAT és IPv6 konfigurálása  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NAT hibaelhárítás: debug parancs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854651"/>
            <a:ext cx="8572500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807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24764" y="357236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11. fejezet:  </a:t>
            </a:r>
            <a:r>
              <a:rPr lang="en-US" dirty="0" smtClean="0">
                <a:ea typeface="ＭＳ Ｐゴシック" pitchFamily="34" charset="-128"/>
              </a:rPr>
              <a:t>Összefoglaló 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91320" y="1378424"/>
            <a:ext cx="8147713" cy="453025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Ez a fejezet a következőket vázolja fel:  </a:t>
            </a:r>
            <a:r>
              <a:rPr lang="en-US" sz="2000" dirty="0" smtClean="0"/>
              <a:t>Hogyan használják a NAT-ot az IPv4 címterület kimerülésének mérséklésére.  </a:t>
            </a:r>
          </a:p>
          <a:p>
            <a:r>
              <a:rPr lang="en-US" sz="2000" dirty="0"/>
              <a:t>A NAT megőrzi a nyilvános címteret és jelentős adminisztratív terheket takarít meg az áthelyezések, mozgások és változtatások kezelésében.  </a:t>
            </a:r>
            <a:r>
              <a:rPr lang="en-US" sz="2000" dirty="0" smtClean="0"/>
              <a:t>NAT IPv4-hez,  </a:t>
            </a:r>
            <a:r>
              <a:rPr lang="en-US" sz="2000" dirty="0"/>
              <a:t>beleértve:  </a:t>
            </a:r>
          </a:p>
          <a:p>
            <a:r>
              <a:rPr lang="en-US" sz="2000" dirty="0" smtClean="0"/>
              <a:t>NAT jellemzők,  </a:t>
            </a:r>
            <a:r>
              <a:rPr lang="en-US" sz="2000" dirty="0"/>
              <a:t>szakszavak,  </a:t>
            </a:r>
            <a:endParaRPr lang="en-US" sz="2000" dirty="0" smtClean="0"/>
          </a:p>
          <a:p>
            <a:r>
              <a:rPr lang="en-US" sz="2000" dirty="0" smtClean="0"/>
              <a:t>és általános működési elvek  </a:t>
            </a:r>
            <a:r>
              <a:rPr lang="en-US" sz="2000" dirty="0"/>
              <a:t>Különböző típusú NAT-ok,  </a:t>
            </a:r>
            <a:r>
              <a:rPr lang="en-US" sz="2000" dirty="0" smtClean="0"/>
              <a:t>beleértve a statikus NAT-ot, dinamikus NAT-ot és a túlterheléssel rendelkező NAT-ot  </a:t>
            </a:r>
            <a:endParaRPr lang="en-US" sz="2000" dirty="0"/>
          </a:p>
          <a:p>
            <a:pPr lvl="1"/>
            <a:r>
              <a:rPr lang="en-US" dirty="0"/>
              <a:t>A NAT előnyei és hátrányai  </a:t>
            </a:r>
            <a:r>
              <a:rPr lang="en-US" dirty="0" smtClean="0"/>
              <a:t>A statikus NAT, dinamikus NAT és a túlterheléssel rendelkező NAT konfigurálása, ellenőrzése és elemzése.</a:t>
            </a:r>
            <a:r>
              <a:rPr lang="en-US" dirty="0"/>
              <a:t>and general operations</a:t>
            </a:r>
          </a:p>
          <a:p>
            <a:pPr lvl="1"/>
            <a:r>
              <a:rPr lang="en-US" dirty="0" smtClean="0"/>
              <a:t>Different </a:t>
            </a:r>
            <a:r>
              <a:rPr lang="en-US" dirty="0"/>
              <a:t>types of </a:t>
            </a:r>
            <a:r>
              <a:rPr lang="en-US" dirty="0" smtClean="0"/>
              <a:t>NAT, </a:t>
            </a:r>
            <a:r>
              <a:rPr lang="en-US" dirty="0"/>
              <a:t>including static NAT, dynamic NAT, and NAT with overloading</a:t>
            </a:r>
          </a:p>
          <a:p>
            <a:pPr lvl="1"/>
            <a:r>
              <a:rPr lang="en-US" dirty="0" smtClean="0"/>
              <a:t>Benefits </a:t>
            </a:r>
            <a:r>
              <a:rPr lang="en-US" dirty="0"/>
              <a:t>and disadvantages of </a:t>
            </a:r>
            <a:r>
              <a:rPr lang="en-US" dirty="0" smtClean="0"/>
              <a:t>NAT</a:t>
            </a:r>
          </a:p>
          <a:p>
            <a:r>
              <a:rPr lang="en-US" sz="2000" dirty="0"/>
              <a:t>The configuration, </a:t>
            </a:r>
            <a:r>
              <a:rPr lang="en-US" sz="2000" dirty="0" smtClean="0"/>
              <a:t>verification, </a:t>
            </a:r>
            <a:r>
              <a:rPr lang="en-US" sz="2000" dirty="0"/>
              <a:t>and analysis of static NAT, dynamic NAT, and NAT with </a:t>
            </a:r>
            <a:r>
              <a:rPr lang="en-US" sz="2000" dirty="0" smtClean="0"/>
              <a:t>overloading.</a:t>
            </a:r>
            <a:endParaRPr lang="en-US" sz="2000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70172" y="411826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11. fejezet:  </a:t>
            </a:r>
            <a:r>
              <a:rPr lang="en-US" dirty="0" smtClean="0">
                <a:ea typeface="ＭＳ Ｐゴシック" pitchFamily="34" charset="-128"/>
              </a:rPr>
              <a:t>Összefoglalás (folytatás) 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23082" y="1446663"/>
            <a:ext cx="8427232" cy="4462012"/>
          </a:xfrm>
        </p:spPr>
        <p:txBody>
          <a:bodyPr/>
          <a:lstStyle/>
          <a:p>
            <a:r>
              <a:rPr lang="en-US" sz="2000" dirty="0" smtClean="0"/>
              <a:t>Hogyan  </a:t>
            </a:r>
            <a:r>
              <a:rPr lang="en-US" sz="2000" dirty="0"/>
              <a:t>a porttovábbítás használható belső eszközök elérésére az  </a:t>
            </a:r>
            <a:r>
              <a:rPr lang="en-US" sz="2000" dirty="0" smtClean="0"/>
              <a:t>Internetről.  </a:t>
            </a:r>
            <a:endParaRPr lang="en-US" sz="2000" dirty="0"/>
          </a:p>
          <a:p>
            <a:r>
              <a:rPr lang="en-US" sz="2000" dirty="0"/>
              <a:t>Hálózati címfordítás (NAT) hibaelhárítása a 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show  </a:t>
            </a:r>
            <a:r>
              <a:rPr lang="en-US" sz="2000" dirty="0"/>
              <a:t>és  </a:t>
            </a:r>
            <a:r>
              <a:rPr lang="en-US" sz="2000" dirty="0" smtClean="0"/>
              <a:t>debug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parancsok használatával.  </a:t>
            </a:r>
            <a:r>
              <a:rPr lang="en-US" sz="2000" dirty="0"/>
              <a:t>Hogyan használják az IPv6-hoz tartozó NAT-ot az IPv6 címek és az IPv4  </a:t>
            </a:r>
            <a:r>
              <a:rPr lang="en-US" sz="2000" dirty="0" smtClean="0"/>
              <a:t>címek közötti fordításhoz.</a:t>
            </a:r>
            <a:endParaRPr lang="en-US" sz="2000" dirty="0"/>
          </a:p>
          <a:p>
            <a:r>
              <a:rPr lang="en-US" sz="2000" dirty="0"/>
              <a:t>How NAT for IPv6 is used to translate between IPv6 addresses and IPv4 </a:t>
            </a:r>
            <a:r>
              <a:rPr lang="en-US" sz="2000" dirty="0" smtClean="0"/>
              <a:t>addresses.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300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ctr"/>
          <a:lstStyle/>
          <a:p>
            <a:endParaRPr lang="en-US" dirty="0"/>
          </a:p>
        </p:txBody>
      </p:sp>
      <p:pic>
        <p:nvPicPr>
          <p:cNvPr id="30723" name="Picture 3" descr="CNA_largo-onwhit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8125" y="2741613"/>
            <a:ext cx="6097588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18313</TotalTime>
  <Pages>28</Pages>
  <Words>1560</Words>
  <Application>Microsoft Office PowerPoint</Application>
  <PresentationFormat>On-screen Show (4:3)</PresentationFormat>
  <Paragraphs>235</Paragraphs>
  <Slides>48</Slides>
  <Notes>47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0" baseType="lpstr">
      <vt:lpstr>PPT-TMPLT-WHT_C</vt:lpstr>
      <vt:lpstr>NetAcad-4F_PPT-WHT_060408</vt:lpstr>
      <vt:lpstr>Chapter 11: Network Address Translation for IPv4</vt:lpstr>
      <vt:lpstr>Chapter 11</vt:lpstr>
      <vt:lpstr>Chapter 11: Objectives</vt:lpstr>
      <vt:lpstr>11.1 NAT Operation</vt:lpstr>
      <vt:lpstr>NAT Characteristics IPv4 Private Address Space</vt:lpstr>
      <vt:lpstr>NAT Characteristics IPv4 Private Address Space</vt:lpstr>
      <vt:lpstr>NAT Characteristics What is NAT?</vt:lpstr>
      <vt:lpstr>NAT Characteristics What is NAT? (cont.)</vt:lpstr>
      <vt:lpstr>NAT Characteristics NAT Terminology</vt:lpstr>
      <vt:lpstr>NAT Characteristics NAT Terminology (cont.)</vt:lpstr>
      <vt:lpstr>Types of NAT Static NAT</vt:lpstr>
      <vt:lpstr>Types of NAT Static NAT (cont.)</vt:lpstr>
      <vt:lpstr>Types of NAT Dynamic NAT</vt:lpstr>
      <vt:lpstr>Types of NAT Dynamic NAT (cont.)</vt:lpstr>
      <vt:lpstr>Types of NAT Port Address Translation</vt:lpstr>
      <vt:lpstr>Types of NAT Comparing NAT and PAT</vt:lpstr>
      <vt:lpstr>Benefits of NAT Benefits of NAT</vt:lpstr>
      <vt:lpstr>Benefits of NAT Disadvantages of NAT</vt:lpstr>
      <vt:lpstr>11.2 Configuring NAT</vt:lpstr>
      <vt:lpstr>Configuring Static NAT Configuring Static NAT</vt:lpstr>
      <vt:lpstr>Configuring Static NAT Configuring Static NAT</vt:lpstr>
      <vt:lpstr>Configuring Static NAT Analyzing Static NAT</vt:lpstr>
      <vt:lpstr>Configuring Static NAT Verifying Static NAT</vt:lpstr>
      <vt:lpstr>Configuring Static NAT Verifying Static NAT (cont.)</vt:lpstr>
      <vt:lpstr>Configuring Dynamic NAT Dynamic NAT Operation</vt:lpstr>
      <vt:lpstr>Configuring Dynamic NAT Configuring Dynamic NAT</vt:lpstr>
      <vt:lpstr>Configuring Dynamic NAT Analyzing Dynamic NAT</vt:lpstr>
      <vt:lpstr>Configuring Dynamic NAT Analyzing Dynamic NAT</vt:lpstr>
      <vt:lpstr>Configuring Dynamic NAT Verifying Dynamic NAT</vt:lpstr>
      <vt:lpstr>Configuring Dynamic NAT Verifying Dynamic NAT</vt:lpstr>
      <vt:lpstr>Configuring PAT Configuring PAT: Address Pool</vt:lpstr>
      <vt:lpstr>Configuring PAT Configuring PAT: Single Address</vt:lpstr>
      <vt:lpstr>Configuring PAT Analyzing PAT</vt:lpstr>
      <vt:lpstr>Configuring PAT Analyzing PAT</vt:lpstr>
      <vt:lpstr>Configuring PAT Verifying PAT Translations</vt:lpstr>
      <vt:lpstr>Port Forwarding Port Forwarding</vt:lpstr>
      <vt:lpstr>Port Forwarding SOHO Example</vt:lpstr>
      <vt:lpstr>Port Forwarding Configuring Port Forwarding with IOS</vt:lpstr>
      <vt:lpstr>Configuring NAT and IPv6 NAT for IPv6?</vt:lpstr>
      <vt:lpstr>Configuring NAT and IPv6 IPv6 Unique Local Addresses</vt:lpstr>
      <vt:lpstr>Configuring NAT and IPv6 NAT for IPv6</vt:lpstr>
      <vt:lpstr>Configuring NAT and IPv6 NAT for IPv6</vt:lpstr>
      <vt:lpstr>11.3 Troubleshooting NAT</vt:lpstr>
      <vt:lpstr>Configuring NAT and IPv6 Troubleshooting NAT: show commands</vt:lpstr>
      <vt:lpstr>Configuring NAT and IPv6 Troubleshooting NAT: debug command</vt:lpstr>
      <vt:lpstr>Chapter 11: Summary</vt:lpstr>
      <vt:lpstr>Chapter 11: Summary (cont.)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Rodrigo Floriano</cp:lastModifiedBy>
  <cp:revision>1243</cp:revision>
  <cp:lastPrinted>1999-01-27T00:54:54Z</cp:lastPrinted>
  <dcterms:created xsi:type="dcterms:W3CDTF">2006-10-23T15:07:30Z</dcterms:created>
  <dcterms:modified xsi:type="dcterms:W3CDTF">2013-10-22T19:35:05Z</dcterms:modified>
</cp:coreProperties>
</file>